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Capa (20s). Identificar projeto e equipa: 'ISPTEC News — Plataforma de Notícias Multimédia', Grupo 26 (Dálcio Garcia, Osvaldo Marcolino), Multimédia 2026. Apresentação curta de cada elemento e do seu papel (Líder Técnico / Líder de Produto).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Problema e Objetivos (30s). Enquadrar o que o projeto resolve: publicar/distribuir notícias multimédia a partir de um servidor, com compressão eficiente, streaming e vários clientes. Ligar explicitamente aos requisitos da disciplina (compressão, streaming, cliente-servidor).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Arquitetura geral (45s). Mostrar a visão cliente-servidor: 3 clientes (Web/Desktop/Mobile) → API REST → PostgreSQL + filesystem + FFmpeg/sharp. Frase-chave: 'um backend único serve Web, Desktop e Mobile por REST + JWT'.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Tecnologias (30s). Justificar o stack: Node/Express/Prisma/PostgreSQL · React/Electron/Expo · sharp/FFmpeg · HLS/Range. Realçar TypeScript ponta-a-ponta, monorepo pnpm e o pacote partilhado @isptec/shared.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Compressão — núcleo 1, requisito de auto-fail (45s). Imagem (WebP/JPEG + PSNR), áudio (MP3/AAC/OGG) e vídeo (H.264/H.265/VP9), mais Huffman PRÓPRIO. Relatório comparativo (tamanho/taxa/tempo/qualidade). Sublinhar o algoritmo próprio como prova de domínio.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Streaming — núcleo 2, segundo auto-fail (40s). VOD por HTTP Range (seek real, resposta 206) e ao vivo por HLS (browser/RTMP/simulado). Mencionar os controlos: play/pause/stop/avançar/retroceder/volume/progresso.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Segurança (30s). Mostrar a segurança da comunicação: JWT + bcrypt, papéis (Admin/Editor/Leitor), validação zod, helmet/cors, rate-limit e logs de auditoria.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Cliente multiplataforma — auto-fail 3 (25s). Provar os três clientes: Web, Desktop (Electron) e Mobile (Expo) a consumir a MESMA API. Mostrar capturas reais de cada um durante a demonstração.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Funcionalidades específicas do tema (25s). Valorizar o produto: feed/categorias, pesquisa, comentários, guardados, TTS, 'Resumo do dia', tema claro/escuro e widgets reais (tempo/mercados).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Conclusão + divisão de trabalho (20s). Fechar mostrando o estado (os três requisitos de auto-fail cumpridos) e a contribuição individual — ambos programaram. Cada elemento indica os módulos concretos em que trabalhou. Agradecer e abrir para perguntas.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914400"/>
            <a:ext cx="3840480" cy="3840480"/>
          </a:xfrm>
          <a:prstGeom prst="ellipse">
            <a:avLst/>
          </a:prstGeom>
          <a:solidFill>
            <a:srgbClr val="20305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378440" y="502920"/>
            <a:ext cx="1737360" cy="1737360"/>
          </a:xfrm>
          <a:prstGeom prst="ellipse">
            <a:avLst/>
          </a:prstGeom>
          <a:solidFill>
            <a:srgbClr val="E63946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27080" y="1051560"/>
            <a:ext cx="640080" cy="6400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1417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40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MULTIMÉDIA 2026  ·  GRUPO 26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640080" y="1828800"/>
            <a:ext cx="10058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ISPTEC News</a:t>
            </a:r>
            <a:endParaRPr lang="en-US" sz="8200" dirty="0"/>
          </a:p>
        </p:txBody>
      </p:sp>
      <p:sp>
        <p:nvSpPr>
          <p:cNvPr id="7" name="Text 4"/>
          <p:cNvSpPr/>
          <p:nvPr/>
        </p:nvSpPr>
        <p:spPr>
          <a:xfrm>
            <a:off x="640080" y="324612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Plataforma de Notícias Multimédia</a:t>
            </a:r>
            <a:endParaRPr lang="en-US" sz="2800" dirty="0"/>
          </a:p>
        </p:txBody>
      </p:sp>
      <p:sp>
        <p:nvSpPr>
          <p:cNvPr id="8" name="Shape 5"/>
          <p:cNvSpPr/>
          <p:nvPr/>
        </p:nvSpPr>
        <p:spPr>
          <a:xfrm>
            <a:off x="640080" y="4160520"/>
            <a:ext cx="1463040" cy="502920"/>
          </a:xfrm>
          <a:prstGeom prst="roundRect">
            <a:avLst>
              <a:gd name="adj" fmla="val 49091"/>
            </a:avLst>
          </a:prstGeom>
          <a:solidFill>
            <a:srgbClr val="20305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49808" y="4224528"/>
            <a:ext cx="365760" cy="365760"/>
          </a:xfrm>
          <a:prstGeom prst="ellipse">
            <a:avLst/>
          </a:prstGeom>
          <a:solidFill>
            <a:srgbClr val="E63946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4315968"/>
            <a:ext cx="182880" cy="1828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170432" y="4160520"/>
            <a:ext cx="8595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2331720" y="4160520"/>
            <a:ext cx="2048256" cy="502920"/>
          </a:xfrm>
          <a:prstGeom prst="roundRect">
            <a:avLst>
              <a:gd name="adj" fmla="val 49091"/>
            </a:avLst>
          </a:prstGeom>
          <a:solidFill>
            <a:srgbClr val="20305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2441448" y="4224528"/>
            <a:ext cx="365760" cy="365760"/>
          </a:xfrm>
          <a:prstGeom prst="ellipse">
            <a:avLst/>
          </a:prstGeom>
          <a:solidFill>
            <a:srgbClr val="E63946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32888" y="4315968"/>
            <a:ext cx="182880" cy="18288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2862072" y="4160520"/>
            <a:ext cx="14447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Desktop</a:t>
            </a:r>
            <a:endParaRPr lang="en-US" sz="1400" dirty="0"/>
          </a:p>
        </p:txBody>
      </p:sp>
      <p:sp>
        <p:nvSpPr>
          <p:cNvPr id="16" name="Shape 11"/>
          <p:cNvSpPr/>
          <p:nvPr/>
        </p:nvSpPr>
        <p:spPr>
          <a:xfrm>
            <a:off x="4608576" y="4160520"/>
            <a:ext cx="1901952" cy="502920"/>
          </a:xfrm>
          <a:prstGeom prst="roundRect">
            <a:avLst>
              <a:gd name="adj" fmla="val 49091"/>
            </a:avLst>
          </a:prstGeom>
          <a:solidFill>
            <a:srgbClr val="20305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4718304" y="4224528"/>
            <a:ext cx="365760" cy="365760"/>
          </a:xfrm>
          <a:prstGeom prst="ellipse">
            <a:avLst/>
          </a:prstGeom>
          <a:solidFill>
            <a:srgbClr val="E63946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9744" y="4315968"/>
            <a:ext cx="182880" cy="18288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5138928" y="4160520"/>
            <a:ext cx="12984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</a:t>
            </a:r>
            <a:endParaRPr lang="en-US" sz="1400" dirty="0"/>
          </a:p>
        </p:txBody>
      </p:sp>
      <p:sp>
        <p:nvSpPr>
          <p:cNvPr id="20" name="Text 14"/>
          <p:cNvSpPr/>
          <p:nvPr/>
        </p:nvSpPr>
        <p:spPr>
          <a:xfrm>
            <a:off x="640080" y="51206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Dálcio Garcia</a:t>
            </a:r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Líder Técnico</a:t>
            </a:r>
            <a:endParaRPr lang="en-US" sz="1600" dirty="0"/>
          </a:p>
        </p:txBody>
      </p:sp>
      <p:sp>
        <p:nvSpPr>
          <p:cNvPr id="21" name="Text 15"/>
          <p:cNvSpPr/>
          <p:nvPr/>
        </p:nvSpPr>
        <p:spPr>
          <a:xfrm>
            <a:off x="640080" y="54864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Osvaldo Marcolino</a:t>
            </a:r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Líder de Produto</a:t>
            </a:r>
            <a:endParaRPr lang="en-US" sz="1600" dirty="0"/>
          </a:p>
        </p:txBody>
      </p:sp>
      <p:sp>
        <p:nvSpPr>
          <p:cNvPr id="22" name="Text 16"/>
          <p:cNvSpPr/>
          <p:nvPr/>
        </p:nvSpPr>
        <p:spPr>
          <a:xfrm>
            <a:off x="640080" y="6172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E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Defesa do Projeto Final  ·  Apresentação ≈ 5 min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75488"/>
            <a:ext cx="10908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ENQUADRAMENTO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68096"/>
            <a:ext cx="109087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7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Problema &amp; Objetivos</a:t>
            </a:r>
            <a:endParaRPr lang="en-US" sz="3700" dirty="0"/>
          </a:p>
        </p:txBody>
      </p:sp>
      <p:sp>
        <p:nvSpPr>
          <p:cNvPr id="4" name="Text 2"/>
          <p:cNvSpPr/>
          <p:nvPr/>
        </p:nvSpPr>
        <p:spPr>
          <a:xfrm>
            <a:off x="640080" y="1627632"/>
            <a:ext cx="10908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4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Publicar e distribuir notícias com imagem, áudio e vídeo a partir de um servidor — com compressão eficiente, streaming e vários clientes.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640080" y="2514600"/>
            <a:ext cx="3447288" cy="3200400"/>
          </a:xfrm>
          <a:prstGeom prst="roundRect">
            <a:avLst>
              <a:gd name="adj" fmla="val 2571"/>
            </a:avLst>
          </a:prstGeom>
          <a:solidFill>
            <a:srgbClr val="F4F6FA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27000" dist="38100" dir="5400000">
              <a:srgbClr val="9AA7BC">
                <a:alpha val="2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51560" y="2926080"/>
            <a:ext cx="868680" cy="868680"/>
          </a:xfrm>
          <a:prstGeom prst="ellipse">
            <a:avLst/>
          </a:prstGeom>
          <a:solidFill>
            <a:srgbClr val="14213D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68730" y="3143250"/>
            <a:ext cx="434340" cy="4343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51560" y="3977640"/>
            <a:ext cx="2624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Compressão eficiente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1051560" y="4480560"/>
            <a:ext cx="271576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E6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Reduzir o tamanho de imagem, áudio e vídeo sem perder qualidade percetível.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4370832" y="2514600"/>
            <a:ext cx="3447288" cy="3200400"/>
          </a:xfrm>
          <a:prstGeom prst="roundRect">
            <a:avLst>
              <a:gd name="adj" fmla="val 2571"/>
            </a:avLst>
          </a:prstGeom>
          <a:solidFill>
            <a:srgbClr val="F4F6FA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27000" dist="38100" dir="5400000">
              <a:srgbClr val="9AA7BC">
                <a:alpha val="2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82312" y="2926080"/>
            <a:ext cx="868680" cy="868680"/>
          </a:xfrm>
          <a:prstGeom prst="ellipse">
            <a:avLst/>
          </a:prstGeom>
          <a:solidFill>
            <a:srgbClr val="14213D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99482" y="3143250"/>
            <a:ext cx="434340" cy="43434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82312" y="3977640"/>
            <a:ext cx="2624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Streaming</a:t>
            </a:r>
            <a:endParaRPr lang="en-US" sz="1900" dirty="0"/>
          </a:p>
        </p:txBody>
      </p:sp>
      <p:sp>
        <p:nvSpPr>
          <p:cNvPr id="14" name="Text 10"/>
          <p:cNvSpPr/>
          <p:nvPr/>
        </p:nvSpPr>
        <p:spPr>
          <a:xfrm>
            <a:off x="4782312" y="4480560"/>
            <a:ext cx="271576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E6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Servir conteúdo sob demanda (seek real) e transmissão ao vivo.</a:t>
            </a:r>
            <a:endParaRPr lang="en-US" sz="1450" dirty="0"/>
          </a:p>
        </p:txBody>
      </p:sp>
      <p:sp>
        <p:nvSpPr>
          <p:cNvPr id="15" name="Shape 11"/>
          <p:cNvSpPr/>
          <p:nvPr/>
        </p:nvSpPr>
        <p:spPr>
          <a:xfrm>
            <a:off x="8101584" y="2514600"/>
            <a:ext cx="3447288" cy="3200400"/>
          </a:xfrm>
          <a:prstGeom prst="roundRect">
            <a:avLst>
              <a:gd name="adj" fmla="val 2571"/>
            </a:avLst>
          </a:prstGeom>
          <a:solidFill>
            <a:srgbClr val="F4F6FA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27000" dist="38100" dir="5400000">
              <a:srgbClr val="9AA7BC">
                <a:alpha val="2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513064" y="2926080"/>
            <a:ext cx="868680" cy="868680"/>
          </a:xfrm>
          <a:prstGeom prst="ellipse">
            <a:avLst/>
          </a:prstGeom>
          <a:solidFill>
            <a:srgbClr val="14213D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30234" y="3143250"/>
            <a:ext cx="434340" cy="43434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513064" y="3977640"/>
            <a:ext cx="2624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Cliente-servidor</a:t>
            </a:r>
            <a:endParaRPr lang="en-US" sz="1900" dirty="0"/>
          </a:p>
        </p:txBody>
      </p:sp>
      <p:sp>
        <p:nvSpPr>
          <p:cNvPr id="19" name="Text 14"/>
          <p:cNvSpPr/>
          <p:nvPr/>
        </p:nvSpPr>
        <p:spPr>
          <a:xfrm>
            <a:off x="8513064" y="4480560"/>
            <a:ext cx="271576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E6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backend único a alimentar Web, Desktop e Mobile.</a:t>
            </a:r>
            <a:endParaRPr lang="en-US" sz="145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Requisitos da disciplina: compressão · streaming · arquitetura cliente-servidor.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640080" y="645566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6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ISPTEC News — Defesa do Projeto Final</a:t>
            </a:r>
            <a:endParaRPr lang="en-US" sz="900" dirty="0"/>
          </a:p>
        </p:txBody>
      </p:sp>
      <p:sp>
        <p:nvSpPr>
          <p:cNvPr id="22" name="Text 17"/>
          <p:cNvSpPr/>
          <p:nvPr/>
        </p:nvSpPr>
        <p:spPr>
          <a:xfrm>
            <a:off x="10177272" y="64556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6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10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75488"/>
            <a:ext cx="10908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ARQUITETURA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68096"/>
            <a:ext cx="109087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7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Visão Cliente-Servidor</a:t>
            </a:r>
            <a:endParaRPr lang="en-US" sz="37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383280" cy="3383280"/>
          </a:xfrm>
          <a:prstGeom prst="roundRect">
            <a:avLst>
              <a:gd name="adj" fmla="val 2432"/>
            </a:avLst>
          </a:prstGeom>
          <a:solidFill>
            <a:srgbClr val="F4F6FA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27000" dist="38100" dir="5400000">
              <a:srgbClr val="9AA7BC">
                <a:alpha val="2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214884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CLIENTES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960120" y="2606040"/>
            <a:ext cx="640080" cy="640080"/>
          </a:xfrm>
          <a:prstGeom prst="ellipse">
            <a:avLst/>
          </a:prstGeom>
          <a:solidFill>
            <a:srgbClr val="14213D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0140" y="2766060"/>
            <a:ext cx="320040" cy="3200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737360" y="258775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737360" y="2935224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6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Vite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960120" y="3502152"/>
            <a:ext cx="640080" cy="640080"/>
          </a:xfrm>
          <a:prstGeom prst="ellipse">
            <a:avLst/>
          </a:prstGeom>
          <a:solidFill>
            <a:srgbClr val="14213D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0140" y="3662172"/>
            <a:ext cx="320040" cy="3200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737360" y="3483864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Desktop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1737360" y="3831336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6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960120" y="4398264"/>
            <a:ext cx="640080" cy="640080"/>
          </a:xfrm>
          <a:prstGeom prst="ellipse">
            <a:avLst/>
          </a:prstGeom>
          <a:solidFill>
            <a:srgbClr val="14213D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" y="4558284"/>
            <a:ext cx="320040" cy="32004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737360" y="4379976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</a:t>
            </a:r>
            <a:endParaRPr lang="en-US" sz="1600" dirty="0"/>
          </a:p>
        </p:txBody>
      </p:sp>
      <p:sp>
        <p:nvSpPr>
          <p:cNvPr id="17" name="Text 12"/>
          <p:cNvSpPr/>
          <p:nvPr/>
        </p:nvSpPr>
        <p:spPr>
          <a:xfrm>
            <a:off x="1737360" y="4727448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6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5029200" y="2697480"/>
            <a:ext cx="2130552" cy="1920240"/>
          </a:xfrm>
          <a:prstGeom prst="roundRect">
            <a:avLst>
              <a:gd name="adj" fmla="val 4762"/>
            </a:avLst>
          </a:prstGeom>
          <a:solidFill>
            <a:srgbClr val="14213D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30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5728716" y="2990088"/>
            <a:ext cx="731520" cy="731520"/>
          </a:xfrm>
          <a:prstGeom prst="ellipse">
            <a:avLst/>
          </a:prstGeom>
          <a:solidFill>
            <a:srgbClr val="E63946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11596" y="3172968"/>
            <a:ext cx="365760" cy="36576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5029200" y="3776472"/>
            <a:ext cx="2130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API REST</a:t>
            </a:r>
            <a:endParaRPr lang="en-US" sz="1800" dirty="0"/>
          </a:p>
        </p:txBody>
      </p:sp>
      <p:sp>
        <p:nvSpPr>
          <p:cNvPr id="22" name="Text 16"/>
          <p:cNvSpPr/>
          <p:nvPr/>
        </p:nvSpPr>
        <p:spPr>
          <a:xfrm>
            <a:off x="5029200" y="4142232"/>
            <a:ext cx="2130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· Prisma · JWT</a:t>
            </a:r>
            <a:endParaRPr lang="en-US" sz="1150" dirty="0"/>
          </a:p>
        </p:txBody>
      </p:sp>
      <p:sp>
        <p:nvSpPr>
          <p:cNvPr id="23" name="Shape 17"/>
          <p:cNvSpPr/>
          <p:nvPr/>
        </p:nvSpPr>
        <p:spPr>
          <a:xfrm>
            <a:off x="4096512" y="3657600"/>
            <a:ext cx="859536" cy="0"/>
          </a:xfrm>
          <a:prstGeom prst="line">
            <a:avLst/>
          </a:prstGeom>
          <a:noFill/>
          <a:ln w="31750">
            <a:solidFill>
              <a:srgbClr val="E63946"/>
            </a:solidFill>
            <a:prstDash val="solid"/>
            <a:tailEnd type="triangle"/>
          </a:ln>
        </p:spPr>
      </p:sp>
      <p:sp>
        <p:nvSpPr>
          <p:cNvPr id="24" name="Shape 18"/>
          <p:cNvSpPr/>
          <p:nvPr/>
        </p:nvSpPr>
        <p:spPr>
          <a:xfrm>
            <a:off x="7232904" y="3657600"/>
            <a:ext cx="1014984" cy="0"/>
          </a:xfrm>
          <a:prstGeom prst="line">
            <a:avLst/>
          </a:prstGeom>
          <a:noFill/>
          <a:ln w="31750">
            <a:solidFill>
              <a:srgbClr val="E63946"/>
            </a:solidFill>
            <a:prstDash val="solid"/>
            <a:tailEnd type="triangle"/>
          </a:ln>
        </p:spPr>
      </p:sp>
      <p:sp>
        <p:nvSpPr>
          <p:cNvPr id="25" name="Shape 19"/>
          <p:cNvSpPr/>
          <p:nvPr/>
        </p:nvSpPr>
        <p:spPr>
          <a:xfrm>
            <a:off x="8321040" y="1965960"/>
            <a:ext cx="3227832" cy="3383280"/>
          </a:xfrm>
          <a:prstGeom prst="roundRect">
            <a:avLst>
              <a:gd name="adj" fmla="val 2550"/>
            </a:avLst>
          </a:prstGeom>
          <a:solidFill>
            <a:srgbClr val="F4F6FA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27000" dist="38100" dir="5400000">
              <a:srgbClr val="9AA7BC">
                <a:alpha val="22000"/>
              </a:srgbClr>
            </a:outerShdw>
          </a:effectLst>
        </p:spPr>
      </p:sp>
      <p:sp>
        <p:nvSpPr>
          <p:cNvPr id="26" name="Text 20"/>
          <p:cNvSpPr/>
          <p:nvPr/>
        </p:nvSpPr>
        <p:spPr>
          <a:xfrm>
            <a:off x="8321040" y="2148840"/>
            <a:ext cx="32278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SERVIDOR</a:t>
            </a:r>
            <a:endParaRPr lang="en-US" sz="1200" dirty="0"/>
          </a:p>
        </p:txBody>
      </p:sp>
      <p:sp>
        <p:nvSpPr>
          <p:cNvPr id="27" name="Shape 21"/>
          <p:cNvSpPr/>
          <p:nvPr/>
        </p:nvSpPr>
        <p:spPr>
          <a:xfrm>
            <a:off x="8613648" y="2606040"/>
            <a:ext cx="640080" cy="640080"/>
          </a:xfrm>
          <a:prstGeom prst="ellipse">
            <a:avLst/>
          </a:prstGeom>
          <a:solidFill>
            <a:srgbClr val="14213D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73668" y="2766060"/>
            <a:ext cx="320040" cy="320040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9372600" y="2587752"/>
            <a:ext cx="2084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550" dirty="0"/>
          </a:p>
        </p:txBody>
      </p:sp>
      <p:sp>
        <p:nvSpPr>
          <p:cNvPr id="30" name="Text 23"/>
          <p:cNvSpPr/>
          <p:nvPr/>
        </p:nvSpPr>
        <p:spPr>
          <a:xfrm>
            <a:off x="9372600" y="2935224"/>
            <a:ext cx="20848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E6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+ Prisma</a:t>
            </a:r>
            <a:endParaRPr lang="en-US" sz="1150" dirty="0"/>
          </a:p>
        </p:txBody>
      </p:sp>
      <p:sp>
        <p:nvSpPr>
          <p:cNvPr id="31" name="Shape 24"/>
          <p:cNvSpPr/>
          <p:nvPr/>
        </p:nvSpPr>
        <p:spPr>
          <a:xfrm>
            <a:off x="8613648" y="3502152"/>
            <a:ext cx="640080" cy="640080"/>
          </a:xfrm>
          <a:prstGeom prst="ellipse">
            <a:avLst/>
          </a:prstGeom>
          <a:solidFill>
            <a:srgbClr val="14213D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73668" y="3662172"/>
            <a:ext cx="320040" cy="320040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9372600" y="3483864"/>
            <a:ext cx="2084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Ficheiros</a:t>
            </a:r>
            <a:endParaRPr lang="en-US" sz="1550" dirty="0"/>
          </a:p>
        </p:txBody>
      </p:sp>
      <p:sp>
        <p:nvSpPr>
          <p:cNvPr id="34" name="Text 26"/>
          <p:cNvSpPr/>
          <p:nvPr/>
        </p:nvSpPr>
        <p:spPr>
          <a:xfrm>
            <a:off x="9372600" y="3831336"/>
            <a:ext cx="20848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E6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 original/variantes</a:t>
            </a:r>
            <a:endParaRPr lang="en-US" sz="1150" dirty="0"/>
          </a:p>
        </p:txBody>
      </p:sp>
      <p:sp>
        <p:nvSpPr>
          <p:cNvPr id="35" name="Shape 27"/>
          <p:cNvSpPr/>
          <p:nvPr/>
        </p:nvSpPr>
        <p:spPr>
          <a:xfrm>
            <a:off x="8613648" y="4398264"/>
            <a:ext cx="640080" cy="640080"/>
          </a:xfrm>
          <a:prstGeom prst="ellipse">
            <a:avLst/>
          </a:prstGeom>
          <a:solidFill>
            <a:srgbClr val="14213D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3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73668" y="4558284"/>
            <a:ext cx="320040" cy="320040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9372600" y="4379976"/>
            <a:ext cx="2084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FFmpeg · sharp</a:t>
            </a:r>
            <a:endParaRPr lang="en-US" sz="1550" dirty="0"/>
          </a:p>
        </p:txBody>
      </p:sp>
      <p:sp>
        <p:nvSpPr>
          <p:cNvPr id="38" name="Text 29"/>
          <p:cNvSpPr/>
          <p:nvPr/>
        </p:nvSpPr>
        <p:spPr>
          <a:xfrm>
            <a:off x="9372600" y="4727448"/>
            <a:ext cx="20848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E6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compressão + HLS</a:t>
            </a:r>
            <a:endParaRPr lang="en-US" sz="1150" dirty="0"/>
          </a:p>
        </p:txBody>
      </p:sp>
      <p:sp>
        <p:nvSpPr>
          <p:cNvPr id="39" name="Text 30"/>
          <p:cNvSpPr/>
          <p:nvPr/>
        </p:nvSpPr>
        <p:spPr>
          <a:xfrm>
            <a:off x="640080" y="5715000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backend único serve Web, Desktop e Mobile por REST + JWT.</a:t>
            </a:r>
            <a:endParaRPr lang="en-US" sz="1400" dirty="0"/>
          </a:p>
        </p:txBody>
      </p:sp>
      <p:sp>
        <p:nvSpPr>
          <p:cNvPr id="40" name="Text 31"/>
          <p:cNvSpPr/>
          <p:nvPr/>
        </p:nvSpPr>
        <p:spPr>
          <a:xfrm>
            <a:off x="640080" y="645566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6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ISPTEC News — Defesa do Projeto Final</a:t>
            </a:r>
            <a:endParaRPr lang="en-US" sz="900" dirty="0"/>
          </a:p>
        </p:txBody>
      </p:sp>
      <p:sp>
        <p:nvSpPr>
          <p:cNvPr id="41" name="Text 32"/>
          <p:cNvSpPr/>
          <p:nvPr/>
        </p:nvSpPr>
        <p:spPr>
          <a:xfrm>
            <a:off x="10177272" y="64556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6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10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75488"/>
            <a:ext cx="10908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68096"/>
            <a:ext cx="109087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7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Tecnologias</a:t>
            </a:r>
            <a:endParaRPr lang="en-US" sz="37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2569464" cy="3291840"/>
          </a:xfrm>
          <a:prstGeom prst="roundRect">
            <a:avLst>
              <a:gd name="adj" fmla="val 3203"/>
            </a:avLst>
          </a:prstGeom>
          <a:solidFill>
            <a:srgbClr val="F4F6FA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27000" dist="38100" dir="5400000">
              <a:srgbClr val="9AA7BC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513332" y="2331720"/>
            <a:ext cx="822960" cy="822960"/>
          </a:xfrm>
          <a:prstGeom prst="ellipse">
            <a:avLst/>
          </a:prstGeom>
          <a:solidFill>
            <a:srgbClr val="14213D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19072" y="2537460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3291840"/>
            <a:ext cx="25694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Backend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932688" y="3794760"/>
            <a:ext cx="211226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B24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+ Express</a:t>
            </a:r>
            <a:endParaRPr lang="en-US" sz="13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B24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Prisma ORM</a:t>
            </a:r>
            <a:endParaRPr lang="en-US" sz="13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B24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3456432" y="2011680"/>
            <a:ext cx="2569464" cy="3291840"/>
          </a:xfrm>
          <a:prstGeom prst="roundRect">
            <a:avLst>
              <a:gd name="adj" fmla="val 3203"/>
            </a:avLst>
          </a:prstGeom>
          <a:solidFill>
            <a:srgbClr val="F4F6FA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27000" dist="38100" dir="5400000">
              <a:srgbClr val="9AA7BC">
                <a:alpha val="2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329684" y="2331720"/>
            <a:ext cx="822960" cy="822960"/>
          </a:xfrm>
          <a:prstGeom prst="ellipse">
            <a:avLst/>
          </a:prstGeom>
          <a:solidFill>
            <a:srgbClr val="14213D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35424" y="2537460"/>
            <a:ext cx="411480" cy="4114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456432" y="3291840"/>
            <a:ext cx="25694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Clientes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3749040" y="3794760"/>
            <a:ext cx="211226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B24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Vite</a:t>
            </a:r>
            <a:endParaRPr lang="en-US" sz="13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B24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 (Desktop)</a:t>
            </a:r>
            <a:endParaRPr lang="en-US" sz="13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B24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 (Mobile)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6272784" y="2011680"/>
            <a:ext cx="2569464" cy="3291840"/>
          </a:xfrm>
          <a:prstGeom prst="roundRect">
            <a:avLst>
              <a:gd name="adj" fmla="val 3203"/>
            </a:avLst>
          </a:prstGeom>
          <a:solidFill>
            <a:srgbClr val="F4F6FA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27000" dist="38100" dir="5400000">
              <a:srgbClr val="9AA7BC">
                <a:alpha val="2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146036" y="2331720"/>
            <a:ext cx="822960" cy="822960"/>
          </a:xfrm>
          <a:prstGeom prst="ellipse">
            <a:avLst/>
          </a:prstGeom>
          <a:solidFill>
            <a:srgbClr val="14213D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51776" y="2537460"/>
            <a:ext cx="411480" cy="41148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272784" y="3291840"/>
            <a:ext cx="25694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Media</a:t>
            </a:r>
            <a:endParaRPr lang="en-US" sz="1800" dirty="0"/>
          </a:p>
        </p:txBody>
      </p:sp>
      <p:sp>
        <p:nvSpPr>
          <p:cNvPr id="18" name="Text 13"/>
          <p:cNvSpPr/>
          <p:nvPr/>
        </p:nvSpPr>
        <p:spPr>
          <a:xfrm>
            <a:off x="6565392" y="3794760"/>
            <a:ext cx="211226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B24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sharp (imagem)</a:t>
            </a:r>
            <a:endParaRPr lang="en-US" sz="13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B24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FFmpeg (áudio/vídeo)</a:t>
            </a:r>
            <a:endParaRPr lang="en-US" sz="13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B24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Huffman próprio</a:t>
            </a:r>
            <a:endParaRPr lang="en-US" sz="1350" dirty="0"/>
          </a:p>
        </p:txBody>
      </p:sp>
      <p:sp>
        <p:nvSpPr>
          <p:cNvPr id="19" name="Shape 14"/>
          <p:cNvSpPr/>
          <p:nvPr/>
        </p:nvSpPr>
        <p:spPr>
          <a:xfrm>
            <a:off x="9089136" y="2011680"/>
            <a:ext cx="2569464" cy="3291840"/>
          </a:xfrm>
          <a:prstGeom prst="roundRect">
            <a:avLst>
              <a:gd name="adj" fmla="val 3203"/>
            </a:avLst>
          </a:prstGeom>
          <a:solidFill>
            <a:srgbClr val="F4F6FA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27000" dist="38100" dir="5400000">
              <a:srgbClr val="9AA7BC">
                <a:alpha val="2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9962388" y="2331720"/>
            <a:ext cx="822960" cy="822960"/>
          </a:xfrm>
          <a:prstGeom prst="ellipse">
            <a:avLst/>
          </a:prstGeom>
          <a:solidFill>
            <a:srgbClr val="14213D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68128" y="2537460"/>
            <a:ext cx="411480" cy="41148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089136" y="3291840"/>
            <a:ext cx="25694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Entrega</a:t>
            </a:r>
            <a:endParaRPr lang="en-US" sz="1800" dirty="0"/>
          </a:p>
        </p:txBody>
      </p:sp>
      <p:sp>
        <p:nvSpPr>
          <p:cNvPr id="23" name="Text 17"/>
          <p:cNvSpPr/>
          <p:nvPr/>
        </p:nvSpPr>
        <p:spPr>
          <a:xfrm>
            <a:off x="9381744" y="3794760"/>
            <a:ext cx="211226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B24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HLS (ao vivo)</a:t>
            </a:r>
            <a:endParaRPr lang="en-US" sz="13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B24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Range (VOD)</a:t>
            </a:r>
            <a:endParaRPr lang="en-US" sz="13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B24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 (ingestão)</a:t>
            </a:r>
            <a:endParaRPr lang="en-US" sz="1350" dirty="0"/>
          </a:p>
        </p:txBody>
      </p:sp>
      <p:sp>
        <p:nvSpPr>
          <p:cNvPr id="24" name="Text 18"/>
          <p:cNvSpPr/>
          <p:nvPr/>
        </p:nvSpPr>
        <p:spPr>
          <a:xfrm>
            <a:off x="640080" y="5806440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 ponta-a-ponta  ·  monorepo pnpm  ·  pacote partilhado @isptec/shared (tipos + schemas zod).</a:t>
            </a:r>
            <a:endParaRPr lang="en-US" sz="1350" dirty="0"/>
          </a:p>
        </p:txBody>
      </p:sp>
      <p:sp>
        <p:nvSpPr>
          <p:cNvPr id="25" name="Text 19"/>
          <p:cNvSpPr/>
          <p:nvPr/>
        </p:nvSpPr>
        <p:spPr>
          <a:xfrm>
            <a:off x="640080" y="645566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6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ISPTEC News — Defesa do Projeto Final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10177272" y="64556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6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10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75488"/>
            <a:ext cx="10908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NÚCLEO 1 · REQUISITO CRÍTICO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68096"/>
            <a:ext cx="109087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7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Compressão</a:t>
            </a:r>
            <a:endParaRPr lang="en-US" sz="3700" dirty="0"/>
          </a:p>
        </p:txBody>
      </p:sp>
      <p:sp>
        <p:nvSpPr>
          <p:cNvPr id="4" name="Shape 2"/>
          <p:cNvSpPr/>
          <p:nvPr/>
        </p:nvSpPr>
        <p:spPr>
          <a:xfrm>
            <a:off x="9445752" y="841248"/>
            <a:ext cx="1527048" cy="329184"/>
          </a:xfrm>
          <a:prstGeom prst="roundRect">
            <a:avLst>
              <a:gd name="adj" fmla="val 50000"/>
            </a:avLst>
          </a:prstGeom>
          <a:solidFill>
            <a:srgbClr val="E6394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445752" y="841248"/>
            <a:ext cx="1527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AUTO-FAIL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" y="2011680"/>
            <a:ext cx="2569464" cy="2788920"/>
          </a:xfrm>
          <a:prstGeom prst="roundRect">
            <a:avLst>
              <a:gd name="adj" fmla="val 3203"/>
            </a:avLst>
          </a:prstGeom>
          <a:solidFill>
            <a:srgbClr val="F4F6FA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27000" dist="38100" dir="5400000">
              <a:srgbClr val="9AA7BC">
                <a:alpha val="2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513332" y="2331720"/>
            <a:ext cx="822960" cy="822960"/>
          </a:xfrm>
          <a:prstGeom prst="ellipse">
            <a:avLst/>
          </a:prstGeom>
          <a:solidFill>
            <a:srgbClr val="14213D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19072" y="2537460"/>
            <a:ext cx="411480" cy="4114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40080" y="3273552"/>
            <a:ext cx="25694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Imagem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640080" y="3767328"/>
            <a:ext cx="25694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4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WebP · JPEG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822960" y="4169664"/>
            <a:ext cx="22037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E6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PSNR (qualidade)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3456432" y="2011680"/>
            <a:ext cx="2569464" cy="2788920"/>
          </a:xfrm>
          <a:prstGeom prst="roundRect">
            <a:avLst>
              <a:gd name="adj" fmla="val 3203"/>
            </a:avLst>
          </a:prstGeom>
          <a:solidFill>
            <a:srgbClr val="F4F6FA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27000" dist="38100" dir="5400000">
              <a:srgbClr val="9AA7BC">
                <a:alpha val="2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329684" y="2331720"/>
            <a:ext cx="822960" cy="822960"/>
          </a:xfrm>
          <a:prstGeom prst="ellipse">
            <a:avLst/>
          </a:prstGeom>
          <a:solidFill>
            <a:srgbClr val="14213D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35424" y="2537460"/>
            <a:ext cx="411480" cy="41148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456432" y="3273552"/>
            <a:ext cx="25694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Áudio</a:t>
            </a:r>
            <a:endParaRPr lang="en-US" sz="1750" dirty="0"/>
          </a:p>
        </p:txBody>
      </p:sp>
      <p:sp>
        <p:nvSpPr>
          <p:cNvPr id="16" name="Text 12"/>
          <p:cNvSpPr/>
          <p:nvPr/>
        </p:nvSpPr>
        <p:spPr>
          <a:xfrm>
            <a:off x="3456432" y="3767328"/>
            <a:ext cx="25694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4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MP3 · AAC · OGG</a:t>
            </a:r>
            <a:endParaRPr lang="en-US" sz="1500" dirty="0"/>
          </a:p>
        </p:txBody>
      </p:sp>
      <p:sp>
        <p:nvSpPr>
          <p:cNvPr id="17" name="Text 13"/>
          <p:cNvSpPr/>
          <p:nvPr/>
        </p:nvSpPr>
        <p:spPr>
          <a:xfrm>
            <a:off x="3639312" y="4169664"/>
            <a:ext cx="22037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E6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variantes por bitrate</a:t>
            </a:r>
            <a:endParaRPr lang="en-US" sz="1250" dirty="0"/>
          </a:p>
        </p:txBody>
      </p:sp>
      <p:sp>
        <p:nvSpPr>
          <p:cNvPr id="18" name="Shape 14"/>
          <p:cNvSpPr/>
          <p:nvPr/>
        </p:nvSpPr>
        <p:spPr>
          <a:xfrm>
            <a:off x="6272784" y="2011680"/>
            <a:ext cx="2569464" cy="2788920"/>
          </a:xfrm>
          <a:prstGeom prst="roundRect">
            <a:avLst>
              <a:gd name="adj" fmla="val 3203"/>
            </a:avLst>
          </a:prstGeom>
          <a:solidFill>
            <a:srgbClr val="F4F6FA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27000" dist="38100" dir="5400000">
              <a:srgbClr val="9AA7BC">
                <a:alpha val="22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7146036" y="2331720"/>
            <a:ext cx="822960" cy="822960"/>
          </a:xfrm>
          <a:prstGeom prst="ellipse">
            <a:avLst/>
          </a:prstGeom>
          <a:solidFill>
            <a:srgbClr val="14213D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51776" y="2537460"/>
            <a:ext cx="411480" cy="41148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272784" y="3273552"/>
            <a:ext cx="25694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Vídeo</a:t>
            </a:r>
            <a:endParaRPr lang="en-US" sz="1750" dirty="0"/>
          </a:p>
        </p:txBody>
      </p:sp>
      <p:sp>
        <p:nvSpPr>
          <p:cNvPr id="22" name="Text 17"/>
          <p:cNvSpPr/>
          <p:nvPr/>
        </p:nvSpPr>
        <p:spPr>
          <a:xfrm>
            <a:off x="6272784" y="3767328"/>
            <a:ext cx="25694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4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H.264 · H.265 · VP9</a:t>
            </a:r>
            <a:endParaRPr lang="en-US" sz="1500" dirty="0"/>
          </a:p>
        </p:txBody>
      </p:sp>
      <p:sp>
        <p:nvSpPr>
          <p:cNvPr id="23" name="Text 18"/>
          <p:cNvSpPr/>
          <p:nvPr/>
        </p:nvSpPr>
        <p:spPr>
          <a:xfrm>
            <a:off x="6455664" y="4169664"/>
            <a:ext cx="22037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E6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codecs reais (FFmpeg)</a:t>
            </a:r>
            <a:endParaRPr lang="en-US" sz="1250" dirty="0"/>
          </a:p>
        </p:txBody>
      </p:sp>
      <p:sp>
        <p:nvSpPr>
          <p:cNvPr id="24" name="Shape 19"/>
          <p:cNvSpPr/>
          <p:nvPr/>
        </p:nvSpPr>
        <p:spPr>
          <a:xfrm>
            <a:off x="9089136" y="2011680"/>
            <a:ext cx="2569464" cy="2788920"/>
          </a:xfrm>
          <a:prstGeom prst="roundRect">
            <a:avLst>
              <a:gd name="adj" fmla="val 3203"/>
            </a:avLst>
          </a:prstGeom>
          <a:solidFill>
            <a:srgbClr val="14213D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27000" dist="38100" dir="5400000">
              <a:srgbClr val="9AA7BC">
                <a:alpha val="22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9962388" y="2331720"/>
            <a:ext cx="822960" cy="822960"/>
          </a:xfrm>
          <a:prstGeom prst="ellipse">
            <a:avLst/>
          </a:prstGeom>
          <a:solidFill>
            <a:srgbClr val="E63946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68128" y="2537460"/>
            <a:ext cx="411480" cy="41148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9089136" y="3273552"/>
            <a:ext cx="25694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Huffman próprio</a:t>
            </a:r>
            <a:endParaRPr lang="en-US" sz="1750" dirty="0"/>
          </a:p>
        </p:txBody>
      </p:sp>
      <p:sp>
        <p:nvSpPr>
          <p:cNvPr id="28" name="Text 22"/>
          <p:cNvSpPr/>
          <p:nvPr/>
        </p:nvSpPr>
        <p:spPr>
          <a:xfrm>
            <a:off x="9089136" y="3767328"/>
            <a:ext cx="25694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Algoritmo de raiz</a:t>
            </a:r>
            <a:endParaRPr lang="en-US" sz="1500" dirty="0"/>
          </a:p>
        </p:txBody>
      </p:sp>
      <p:sp>
        <p:nvSpPr>
          <p:cNvPr id="29" name="Text 23"/>
          <p:cNvSpPr/>
          <p:nvPr/>
        </p:nvSpPr>
        <p:spPr>
          <a:xfrm>
            <a:off x="9272016" y="4169664"/>
            <a:ext cx="22037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perdas · prova de domínio</a:t>
            </a:r>
            <a:endParaRPr lang="en-US" sz="1250" dirty="0"/>
          </a:p>
        </p:txBody>
      </p:sp>
      <p:sp>
        <p:nvSpPr>
          <p:cNvPr id="30" name="Shape 24"/>
          <p:cNvSpPr/>
          <p:nvPr/>
        </p:nvSpPr>
        <p:spPr>
          <a:xfrm>
            <a:off x="640080" y="5166360"/>
            <a:ext cx="10908792" cy="777240"/>
          </a:xfrm>
          <a:prstGeom prst="roundRect">
            <a:avLst>
              <a:gd name="adj" fmla="val 10588"/>
            </a:avLst>
          </a:prstGeom>
          <a:solidFill>
            <a:srgbClr val="EAEEF6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27000" dist="38100" dir="5400000">
              <a:srgbClr val="9AA7BC">
                <a:alpha val="22000"/>
              </a:srgbClr>
            </a:outerShdw>
          </a:effectLst>
        </p:spPr>
      </p:sp>
      <p:sp>
        <p:nvSpPr>
          <p:cNvPr id="31" name="Shape 25"/>
          <p:cNvSpPr/>
          <p:nvPr/>
        </p:nvSpPr>
        <p:spPr>
          <a:xfrm>
            <a:off x="896112" y="5330952"/>
            <a:ext cx="457200" cy="457200"/>
          </a:xfrm>
          <a:prstGeom prst="ellipse">
            <a:avLst/>
          </a:prstGeom>
          <a:solidFill>
            <a:srgbClr val="E63946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3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5840" y="5440680"/>
            <a:ext cx="237744" cy="237744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1508760" y="5166360"/>
            <a:ext cx="98115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Relatório comparativo:  </a:t>
            </a:r>
            <a:pPr indent="0" marL="0">
              <a:buNone/>
            </a:pPr>
            <a:r>
              <a:rPr lang="en-US" sz="1450" dirty="0">
                <a:solidFill>
                  <a:srgbClr val="1B24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tamanho · taxa de compressão · tempo · qualidade — gerado para cada media.</a:t>
            </a:r>
            <a:endParaRPr lang="en-US" sz="1450" dirty="0"/>
          </a:p>
        </p:txBody>
      </p:sp>
      <p:sp>
        <p:nvSpPr>
          <p:cNvPr id="34" name="Text 27"/>
          <p:cNvSpPr/>
          <p:nvPr/>
        </p:nvSpPr>
        <p:spPr>
          <a:xfrm>
            <a:off x="640080" y="645566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6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ISPTEC News — Defesa do Projeto Final</a:t>
            </a:r>
            <a:endParaRPr lang="en-US" sz="900" dirty="0"/>
          </a:p>
        </p:txBody>
      </p:sp>
      <p:sp>
        <p:nvSpPr>
          <p:cNvPr id="35" name="Text 28"/>
          <p:cNvSpPr/>
          <p:nvPr/>
        </p:nvSpPr>
        <p:spPr>
          <a:xfrm>
            <a:off x="10177272" y="64556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6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10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75488"/>
            <a:ext cx="10908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NÚCLEO 2 · REQUISITO CRÍTICO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68096"/>
            <a:ext cx="109087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7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Streaming</a:t>
            </a:r>
            <a:endParaRPr lang="en-US" sz="3700" dirty="0"/>
          </a:p>
        </p:txBody>
      </p:sp>
      <p:sp>
        <p:nvSpPr>
          <p:cNvPr id="4" name="Shape 2"/>
          <p:cNvSpPr/>
          <p:nvPr/>
        </p:nvSpPr>
        <p:spPr>
          <a:xfrm>
            <a:off x="9445752" y="841248"/>
            <a:ext cx="1527048" cy="329184"/>
          </a:xfrm>
          <a:prstGeom prst="roundRect">
            <a:avLst>
              <a:gd name="adj" fmla="val 50000"/>
            </a:avLst>
          </a:prstGeom>
          <a:solidFill>
            <a:srgbClr val="E6394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445752" y="841248"/>
            <a:ext cx="1527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AUTO-FAIL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" y="1965960"/>
            <a:ext cx="5303520" cy="2788920"/>
          </a:xfrm>
          <a:prstGeom prst="roundRect">
            <a:avLst>
              <a:gd name="adj" fmla="val 2951"/>
            </a:avLst>
          </a:prstGeom>
          <a:solidFill>
            <a:srgbClr val="F4F6FA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27000" dist="38100" dir="5400000">
              <a:srgbClr val="9AA7BC">
                <a:alpha val="2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005840" y="2313432"/>
            <a:ext cx="777240" cy="777240"/>
          </a:xfrm>
          <a:prstGeom prst="ellipse">
            <a:avLst/>
          </a:prstGeom>
          <a:solidFill>
            <a:srgbClr val="14213D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0150" y="2507742"/>
            <a:ext cx="388620" cy="3886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920240" y="242316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VOD — Sob Demanda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1051560" y="3291840"/>
            <a:ext cx="4526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B24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Range Request → 206 Partial Content</a:t>
            </a:r>
            <a:endParaRPr lang="en-US" sz="145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B24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Seek real sem descarregar o ficheiro todo</a:t>
            </a:r>
            <a:endParaRPr lang="en-US" sz="145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B24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Imagem, áudio e vídeo das notícias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6245352" y="1965960"/>
            <a:ext cx="5303520" cy="2788920"/>
          </a:xfrm>
          <a:prstGeom prst="roundRect">
            <a:avLst>
              <a:gd name="adj" fmla="val 2951"/>
            </a:avLst>
          </a:prstGeom>
          <a:solidFill>
            <a:srgbClr val="F4F6FA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27000" dist="38100" dir="5400000">
              <a:srgbClr val="9AA7BC">
                <a:alpha val="2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611112" y="2313432"/>
            <a:ext cx="777240" cy="777240"/>
          </a:xfrm>
          <a:prstGeom prst="ellipse">
            <a:avLst/>
          </a:prstGeom>
          <a:solidFill>
            <a:srgbClr val="E63946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5422" y="2507742"/>
            <a:ext cx="388620" cy="3886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525512" y="242316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Ao Vivo</a:t>
            </a:r>
            <a:endParaRPr lang="en-US" sz="2000" dirty="0"/>
          </a:p>
        </p:txBody>
      </p:sp>
      <p:sp>
        <p:nvSpPr>
          <p:cNvPr id="15" name="Text 11"/>
          <p:cNvSpPr/>
          <p:nvPr/>
        </p:nvSpPr>
        <p:spPr>
          <a:xfrm>
            <a:off x="6656832" y="3291840"/>
            <a:ext cx="4526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B24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HLS (.m3u8 + segmentos .ts)</a:t>
            </a:r>
            <a:endParaRPr lang="en-US" sz="145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B24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Captura no browser → WebSocket → FFmpeg</a:t>
            </a:r>
            <a:endParaRPr lang="en-US" sz="145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B24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Fontes: browser · RTMP · simulado</a:t>
            </a:r>
            <a:endParaRPr lang="en-US" sz="1450" dirty="0"/>
          </a:p>
        </p:txBody>
      </p:sp>
      <p:sp>
        <p:nvSpPr>
          <p:cNvPr id="16" name="Text 12"/>
          <p:cNvSpPr/>
          <p:nvPr/>
        </p:nvSpPr>
        <p:spPr>
          <a:xfrm>
            <a:off x="640080" y="5074920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CONTROLOS DO PLAYER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640080" y="5440680"/>
            <a:ext cx="932688" cy="402336"/>
          </a:xfrm>
          <a:prstGeom prst="roundRect">
            <a:avLst>
              <a:gd name="adj" fmla="val 50000"/>
            </a:avLst>
          </a:prstGeom>
          <a:solidFill>
            <a:srgbClr val="EAEEF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640080" y="5440680"/>
            <a:ext cx="9326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</a:t>
            </a:r>
            <a:endParaRPr lang="en-US" sz="1250" dirty="0"/>
          </a:p>
        </p:txBody>
      </p:sp>
      <p:sp>
        <p:nvSpPr>
          <p:cNvPr id="19" name="Shape 15"/>
          <p:cNvSpPr/>
          <p:nvPr/>
        </p:nvSpPr>
        <p:spPr>
          <a:xfrm>
            <a:off x="1700784" y="5440680"/>
            <a:ext cx="1074420" cy="402336"/>
          </a:xfrm>
          <a:prstGeom prst="roundRect">
            <a:avLst>
              <a:gd name="adj" fmla="val 50000"/>
            </a:avLst>
          </a:prstGeom>
          <a:solidFill>
            <a:srgbClr val="EAEEF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1700784" y="5440680"/>
            <a:ext cx="10744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</a:t>
            </a:r>
            <a:endParaRPr lang="en-US" sz="1250" dirty="0"/>
          </a:p>
        </p:txBody>
      </p:sp>
      <p:sp>
        <p:nvSpPr>
          <p:cNvPr id="21" name="Shape 17"/>
          <p:cNvSpPr/>
          <p:nvPr/>
        </p:nvSpPr>
        <p:spPr>
          <a:xfrm>
            <a:off x="2903220" y="5440680"/>
            <a:ext cx="932688" cy="402336"/>
          </a:xfrm>
          <a:prstGeom prst="roundRect">
            <a:avLst>
              <a:gd name="adj" fmla="val 50000"/>
            </a:avLst>
          </a:prstGeom>
          <a:solidFill>
            <a:srgbClr val="EAEEF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2903220" y="5440680"/>
            <a:ext cx="9326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</a:t>
            </a:r>
            <a:endParaRPr lang="en-US" sz="1250" dirty="0"/>
          </a:p>
        </p:txBody>
      </p:sp>
      <p:sp>
        <p:nvSpPr>
          <p:cNvPr id="23" name="Shape 19"/>
          <p:cNvSpPr/>
          <p:nvPr/>
        </p:nvSpPr>
        <p:spPr>
          <a:xfrm>
            <a:off x="3963924" y="5440680"/>
            <a:ext cx="1357884" cy="402336"/>
          </a:xfrm>
          <a:prstGeom prst="roundRect">
            <a:avLst>
              <a:gd name="adj" fmla="val 50000"/>
            </a:avLst>
          </a:prstGeom>
          <a:solidFill>
            <a:srgbClr val="EAEEF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3963924" y="5440680"/>
            <a:ext cx="13578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avançar</a:t>
            </a:r>
            <a:endParaRPr lang="en-US" sz="1250" dirty="0"/>
          </a:p>
        </p:txBody>
      </p:sp>
      <p:sp>
        <p:nvSpPr>
          <p:cNvPr id="25" name="Shape 21"/>
          <p:cNvSpPr/>
          <p:nvPr/>
        </p:nvSpPr>
        <p:spPr>
          <a:xfrm>
            <a:off x="5449824" y="5440680"/>
            <a:ext cx="1783080" cy="402336"/>
          </a:xfrm>
          <a:prstGeom prst="roundRect">
            <a:avLst>
              <a:gd name="adj" fmla="val 50000"/>
            </a:avLst>
          </a:prstGeom>
          <a:solidFill>
            <a:srgbClr val="EAEEF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5449824" y="5440680"/>
            <a:ext cx="1783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retroceder</a:t>
            </a:r>
            <a:endParaRPr lang="en-US" sz="1250" dirty="0"/>
          </a:p>
        </p:txBody>
      </p:sp>
      <p:sp>
        <p:nvSpPr>
          <p:cNvPr id="27" name="Shape 23"/>
          <p:cNvSpPr/>
          <p:nvPr/>
        </p:nvSpPr>
        <p:spPr>
          <a:xfrm>
            <a:off x="7360920" y="5440680"/>
            <a:ext cx="1216152" cy="402336"/>
          </a:xfrm>
          <a:prstGeom prst="roundRect">
            <a:avLst>
              <a:gd name="adj" fmla="val 50000"/>
            </a:avLst>
          </a:prstGeom>
          <a:solidFill>
            <a:srgbClr val="EAEEF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7360920" y="5440680"/>
            <a:ext cx="12161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</a:t>
            </a:r>
            <a:endParaRPr lang="en-US" sz="1250" dirty="0"/>
          </a:p>
        </p:txBody>
      </p:sp>
      <p:sp>
        <p:nvSpPr>
          <p:cNvPr id="29" name="Shape 25"/>
          <p:cNvSpPr/>
          <p:nvPr/>
        </p:nvSpPr>
        <p:spPr>
          <a:xfrm>
            <a:off x="8705088" y="5440680"/>
            <a:ext cx="1641348" cy="402336"/>
          </a:xfrm>
          <a:prstGeom prst="roundRect">
            <a:avLst>
              <a:gd name="adj" fmla="val 50000"/>
            </a:avLst>
          </a:prstGeom>
          <a:solidFill>
            <a:srgbClr val="EAEEF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8705088" y="5440680"/>
            <a:ext cx="16413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progresso</a:t>
            </a:r>
            <a:endParaRPr lang="en-US" sz="1250" dirty="0"/>
          </a:p>
        </p:txBody>
      </p:sp>
      <p:sp>
        <p:nvSpPr>
          <p:cNvPr id="31" name="Text 27"/>
          <p:cNvSpPr/>
          <p:nvPr/>
        </p:nvSpPr>
        <p:spPr>
          <a:xfrm>
            <a:off x="640080" y="645566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6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ISPTEC News — Defesa do Projeto Final</a:t>
            </a:r>
            <a:endParaRPr lang="en-US" sz="900" dirty="0"/>
          </a:p>
        </p:txBody>
      </p:sp>
      <p:sp>
        <p:nvSpPr>
          <p:cNvPr id="32" name="Text 28"/>
          <p:cNvSpPr/>
          <p:nvPr/>
        </p:nvSpPr>
        <p:spPr>
          <a:xfrm>
            <a:off x="10177272" y="64556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6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10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75488"/>
            <a:ext cx="10908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SEGURANÇA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68096"/>
            <a:ext cx="109087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7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Segurança por Certificados (PKI / CA)</a:t>
            </a:r>
            <a:endParaRPr lang="en-US" sz="3700" dirty="0"/>
          </a:p>
        </p:txBody>
      </p:sp>
      <p:sp>
        <p:nvSpPr>
          <p:cNvPr id="4" name="Shape 2"/>
          <p:cNvSpPr/>
          <p:nvPr/>
        </p:nvSpPr>
        <p:spPr>
          <a:xfrm>
            <a:off x="640080" y="2057400"/>
            <a:ext cx="3447288" cy="1737360"/>
          </a:xfrm>
          <a:prstGeom prst="roundRect">
            <a:avLst>
              <a:gd name="adj" fmla="val 4737"/>
            </a:avLst>
          </a:prstGeom>
          <a:solidFill>
            <a:srgbClr val="F4F6FA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27000" dist="38100" dir="5400000">
              <a:srgbClr val="9AA7BC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468880"/>
            <a:ext cx="868680" cy="868680"/>
          </a:xfrm>
          <a:prstGeom prst="ellipse">
            <a:avLst/>
          </a:prstGeom>
          <a:solidFill>
            <a:srgbClr val="14213D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1570" y="2686050"/>
            <a:ext cx="434340" cy="4343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965960" y="2377440"/>
            <a:ext cx="1984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Certificados (CA)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965960" y="2834640"/>
            <a:ext cx="19842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6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 emite; só dispositivos com certificado conectam.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370832" y="2057400"/>
            <a:ext cx="3447288" cy="1737360"/>
          </a:xfrm>
          <a:prstGeom prst="roundRect">
            <a:avLst>
              <a:gd name="adj" fmla="val 4737"/>
            </a:avLst>
          </a:prstGeom>
          <a:solidFill>
            <a:srgbClr val="F4F6FA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27000" dist="38100" dir="5400000">
              <a:srgbClr val="9AA7BC">
                <a:alpha val="2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645152" y="2468880"/>
            <a:ext cx="868680" cy="868680"/>
          </a:xfrm>
          <a:prstGeom prst="ellipse">
            <a:avLst/>
          </a:prstGeom>
          <a:solidFill>
            <a:srgbClr val="14213D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2322" y="2686050"/>
            <a:ext cx="434340" cy="4343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696712" y="2377440"/>
            <a:ext cx="1984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Handshake (prova de posse)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5696712" y="2834640"/>
            <a:ext cx="19842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6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Assina um desafio com a chave privada — anti man-in-the-middle.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8101584" y="2057400"/>
            <a:ext cx="3447288" cy="1737360"/>
          </a:xfrm>
          <a:prstGeom prst="roundRect">
            <a:avLst>
              <a:gd name="adj" fmla="val 4737"/>
            </a:avLst>
          </a:prstGeom>
          <a:solidFill>
            <a:srgbClr val="F4F6FA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27000" dist="38100" dir="5400000">
              <a:srgbClr val="9AA7BC">
                <a:alpha val="2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375904" y="2468880"/>
            <a:ext cx="868680" cy="868680"/>
          </a:xfrm>
          <a:prstGeom prst="ellipse">
            <a:avLst/>
          </a:prstGeom>
          <a:solidFill>
            <a:srgbClr val="14213D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3074" y="2686050"/>
            <a:ext cx="434340" cy="43434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427464" y="2377440"/>
            <a:ext cx="1984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Não-repúdio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9427464" y="2834640"/>
            <a:ext cx="19842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6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Conteúdo assinado; autoria verificável e à prova de adulteração.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640080" y="4069080"/>
            <a:ext cx="3447288" cy="1737360"/>
          </a:xfrm>
          <a:prstGeom prst="roundRect">
            <a:avLst>
              <a:gd name="adj" fmla="val 4737"/>
            </a:avLst>
          </a:prstGeom>
          <a:solidFill>
            <a:srgbClr val="F4F6FA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27000" dist="38100" dir="5400000">
              <a:srgbClr val="9AA7BC">
                <a:alpha val="2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914400" y="4480560"/>
            <a:ext cx="868680" cy="868680"/>
          </a:xfrm>
          <a:prstGeom prst="ellipse">
            <a:avLst/>
          </a:prstGeom>
          <a:solidFill>
            <a:srgbClr val="14213D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1570" y="4697730"/>
            <a:ext cx="434340" cy="43434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965960" y="4389120"/>
            <a:ext cx="1984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Separação de papéis</a:t>
            </a:r>
            <a:endParaRPr lang="en-US" sz="1700" dirty="0"/>
          </a:p>
        </p:txBody>
      </p:sp>
      <p:sp>
        <p:nvSpPr>
          <p:cNvPr id="23" name="Text 17"/>
          <p:cNvSpPr/>
          <p:nvPr/>
        </p:nvSpPr>
        <p:spPr>
          <a:xfrm>
            <a:off x="1965960" y="4846320"/>
            <a:ext cx="19842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6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só gere contas/certificados; o Editor faz o conteúdo.</a:t>
            </a:r>
            <a:endParaRPr lang="en-US" sz="1300" dirty="0"/>
          </a:p>
        </p:txBody>
      </p:sp>
      <p:sp>
        <p:nvSpPr>
          <p:cNvPr id="24" name="Shape 18"/>
          <p:cNvSpPr/>
          <p:nvPr/>
        </p:nvSpPr>
        <p:spPr>
          <a:xfrm>
            <a:off x="4370832" y="4069080"/>
            <a:ext cx="3447288" cy="1737360"/>
          </a:xfrm>
          <a:prstGeom prst="roundRect">
            <a:avLst>
              <a:gd name="adj" fmla="val 4737"/>
            </a:avLst>
          </a:prstGeom>
          <a:solidFill>
            <a:srgbClr val="F4F6FA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27000" dist="38100" dir="5400000">
              <a:srgbClr val="9AA7BC">
                <a:alpha val="22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645152" y="4480560"/>
            <a:ext cx="868680" cy="868680"/>
          </a:xfrm>
          <a:prstGeom prst="ellipse">
            <a:avLst/>
          </a:prstGeom>
          <a:solidFill>
            <a:srgbClr val="14213D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62322" y="4697730"/>
            <a:ext cx="434340" cy="43434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696712" y="4389120"/>
            <a:ext cx="1984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Anti-pirataria</a:t>
            </a:r>
            <a:endParaRPr lang="en-US" sz="1700" dirty="0"/>
          </a:p>
        </p:txBody>
      </p:sp>
      <p:sp>
        <p:nvSpPr>
          <p:cNvPr id="28" name="Text 21"/>
          <p:cNvSpPr/>
          <p:nvPr/>
        </p:nvSpPr>
        <p:spPr>
          <a:xfrm>
            <a:off x="5696712" y="4846320"/>
            <a:ext cx="19842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6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Máquina sem certificado não obtém sessão (PKI_ENFORCE).</a:t>
            </a:r>
            <a:endParaRPr lang="en-US" sz="1300" dirty="0"/>
          </a:p>
        </p:txBody>
      </p:sp>
      <p:sp>
        <p:nvSpPr>
          <p:cNvPr id="29" name="Shape 22"/>
          <p:cNvSpPr/>
          <p:nvPr/>
        </p:nvSpPr>
        <p:spPr>
          <a:xfrm>
            <a:off x="8101584" y="4069080"/>
            <a:ext cx="3447288" cy="1737360"/>
          </a:xfrm>
          <a:prstGeom prst="roundRect">
            <a:avLst>
              <a:gd name="adj" fmla="val 4737"/>
            </a:avLst>
          </a:prstGeom>
          <a:solidFill>
            <a:srgbClr val="F4F6FA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27000" dist="38100" dir="5400000">
              <a:srgbClr val="9AA7BC">
                <a:alpha val="22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375904" y="4480560"/>
            <a:ext cx="868680" cy="868680"/>
          </a:xfrm>
          <a:prstGeom prst="ellipse">
            <a:avLst/>
          </a:prstGeom>
          <a:solidFill>
            <a:srgbClr val="14213D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93074" y="4697730"/>
            <a:ext cx="434340" cy="43434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9427464" y="4389120"/>
            <a:ext cx="1984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Base de segurança</a:t>
            </a:r>
            <a:endParaRPr lang="en-US" sz="1700" dirty="0"/>
          </a:p>
        </p:txBody>
      </p:sp>
      <p:sp>
        <p:nvSpPr>
          <p:cNvPr id="33" name="Text 25"/>
          <p:cNvSpPr/>
          <p:nvPr/>
        </p:nvSpPr>
        <p:spPr>
          <a:xfrm>
            <a:off x="9427464" y="4846320"/>
            <a:ext cx="19842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6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+ bcrypt · zod · Helmet/CORS · rate-limit · logs.</a:t>
            </a:r>
            <a:endParaRPr lang="en-US" sz="1300" dirty="0"/>
          </a:p>
        </p:txBody>
      </p:sp>
      <p:sp>
        <p:nvSpPr>
          <p:cNvPr id="34" name="Text 26"/>
          <p:cNvSpPr/>
          <p:nvPr/>
        </p:nvSpPr>
        <p:spPr>
          <a:xfrm>
            <a:off x="640080" y="645566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6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ISPTEC News — Defesa do Projeto Final</a:t>
            </a:r>
            <a:endParaRPr lang="en-US" sz="900" dirty="0"/>
          </a:p>
        </p:txBody>
      </p:sp>
      <p:sp>
        <p:nvSpPr>
          <p:cNvPr id="35" name="Text 27"/>
          <p:cNvSpPr/>
          <p:nvPr/>
        </p:nvSpPr>
        <p:spPr>
          <a:xfrm>
            <a:off x="10177272" y="64556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6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10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75488"/>
            <a:ext cx="10908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REQUISITO CRÍTICO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68096"/>
            <a:ext cx="109087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7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Cliente Multiplataforma</a:t>
            </a:r>
            <a:endParaRPr lang="en-US" sz="3700" dirty="0"/>
          </a:p>
        </p:txBody>
      </p:sp>
      <p:sp>
        <p:nvSpPr>
          <p:cNvPr id="4" name="Shape 2"/>
          <p:cNvSpPr/>
          <p:nvPr/>
        </p:nvSpPr>
        <p:spPr>
          <a:xfrm>
            <a:off x="9445752" y="841248"/>
            <a:ext cx="1527048" cy="329184"/>
          </a:xfrm>
          <a:prstGeom prst="roundRect">
            <a:avLst>
              <a:gd name="adj" fmla="val 50000"/>
            </a:avLst>
          </a:prstGeom>
          <a:solidFill>
            <a:srgbClr val="E6394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445752" y="841248"/>
            <a:ext cx="1527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AUTO-FAIL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" y="2103120"/>
            <a:ext cx="3447288" cy="3017520"/>
          </a:xfrm>
          <a:prstGeom prst="roundRect">
            <a:avLst>
              <a:gd name="adj" fmla="val 2727"/>
            </a:avLst>
          </a:prstGeom>
          <a:solidFill>
            <a:srgbClr val="F4F6FA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27000" dist="38100" dir="5400000">
              <a:srgbClr val="9AA7BC">
                <a:alpha val="2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815084" y="2468880"/>
            <a:ext cx="1097280" cy="1097280"/>
          </a:xfrm>
          <a:prstGeom prst="ellipse">
            <a:avLst/>
          </a:prstGeom>
          <a:solidFill>
            <a:srgbClr val="14213D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89404" y="2743200"/>
            <a:ext cx="548640" cy="5486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40080" y="3703320"/>
            <a:ext cx="34472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Web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640080" y="4160520"/>
            <a:ext cx="3447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Vite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914400" y="4553712"/>
            <a:ext cx="28986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E6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principal no navegador.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4370832" y="2103120"/>
            <a:ext cx="3447288" cy="3017520"/>
          </a:xfrm>
          <a:prstGeom prst="roundRect">
            <a:avLst>
              <a:gd name="adj" fmla="val 2727"/>
            </a:avLst>
          </a:prstGeom>
          <a:solidFill>
            <a:srgbClr val="F4F6FA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27000" dist="38100" dir="5400000">
              <a:srgbClr val="9AA7BC">
                <a:alpha val="2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5545836" y="2468880"/>
            <a:ext cx="1097280" cy="1097280"/>
          </a:xfrm>
          <a:prstGeom prst="ellipse">
            <a:avLst/>
          </a:prstGeom>
          <a:solidFill>
            <a:srgbClr val="14213D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20156" y="2743200"/>
            <a:ext cx="548640" cy="54864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370832" y="3703320"/>
            <a:ext cx="34472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Desktop</a:t>
            </a:r>
            <a:endParaRPr lang="en-US" sz="2200" dirty="0"/>
          </a:p>
        </p:txBody>
      </p:sp>
      <p:sp>
        <p:nvSpPr>
          <p:cNvPr id="16" name="Text 12"/>
          <p:cNvSpPr/>
          <p:nvPr/>
        </p:nvSpPr>
        <p:spPr>
          <a:xfrm>
            <a:off x="4370832" y="4160520"/>
            <a:ext cx="3447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4645152" y="4553712"/>
            <a:ext cx="28986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E6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Aplicação instalável, mesma UI.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8101584" y="2103120"/>
            <a:ext cx="3447288" cy="3017520"/>
          </a:xfrm>
          <a:prstGeom prst="roundRect">
            <a:avLst>
              <a:gd name="adj" fmla="val 2727"/>
            </a:avLst>
          </a:prstGeom>
          <a:solidFill>
            <a:srgbClr val="F4F6FA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27000" dist="38100" dir="5400000">
              <a:srgbClr val="9AA7BC">
                <a:alpha val="22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9276588" y="2468880"/>
            <a:ext cx="1097280" cy="1097280"/>
          </a:xfrm>
          <a:prstGeom prst="ellipse">
            <a:avLst/>
          </a:prstGeom>
          <a:solidFill>
            <a:srgbClr val="14213D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50908" y="2743200"/>
            <a:ext cx="548640" cy="54864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8101584" y="3703320"/>
            <a:ext cx="34472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Mobile</a:t>
            </a:r>
            <a:endParaRPr lang="en-US" sz="2200" dirty="0"/>
          </a:p>
        </p:txBody>
      </p:sp>
      <p:sp>
        <p:nvSpPr>
          <p:cNvPr id="22" name="Text 17"/>
          <p:cNvSpPr/>
          <p:nvPr/>
        </p:nvSpPr>
        <p:spPr>
          <a:xfrm>
            <a:off x="8101584" y="4160520"/>
            <a:ext cx="3447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 / React Native</a:t>
            </a:r>
            <a:endParaRPr lang="en-US" sz="1400" dirty="0"/>
          </a:p>
        </p:txBody>
      </p:sp>
      <p:sp>
        <p:nvSpPr>
          <p:cNvPr id="23" name="Text 18"/>
          <p:cNvSpPr/>
          <p:nvPr/>
        </p:nvSpPr>
        <p:spPr>
          <a:xfrm>
            <a:off x="8375904" y="4553712"/>
            <a:ext cx="28986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E6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Feed, reprodução e upload.</a:t>
            </a:r>
            <a:endParaRPr lang="en-US" sz="1300" dirty="0"/>
          </a:p>
        </p:txBody>
      </p:sp>
      <p:sp>
        <p:nvSpPr>
          <p:cNvPr id="24" name="Text 19"/>
          <p:cNvSpPr/>
          <p:nvPr/>
        </p:nvSpPr>
        <p:spPr>
          <a:xfrm>
            <a:off x="640080" y="5486400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i="1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MESMA API REST — um backend, três clientes (tipos partilhados via @isptec/shared).</a:t>
            </a:r>
            <a:endParaRPr lang="en-US" sz="1450" dirty="0"/>
          </a:p>
        </p:txBody>
      </p:sp>
      <p:sp>
        <p:nvSpPr>
          <p:cNvPr id="25" name="Text 20"/>
          <p:cNvSpPr/>
          <p:nvPr/>
        </p:nvSpPr>
        <p:spPr>
          <a:xfrm>
            <a:off x="640080" y="645566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6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ISPTEC News — Defesa do Projeto Final</a:t>
            </a:r>
            <a:endParaRPr lang="en-US" sz="900" dirty="0"/>
          </a:p>
        </p:txBody>
      </p:sp>
      <p:sp>
        <p:nvSpPr>
          <p:cNvPr id="26" name="Text 21"/>
          <p:cNvSpPr/>
          <p:nvPr/>
        </p:nvSpPr>
        <p:spPr>
          <a:xfrm>
            <a:off x="10177272" y="64556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6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10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75488"/>
            <a:ext cx="10908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PRODUTO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68096"/>
            <a:ext cx="109087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7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Funcionalidades do Tema</a:t>
            </a:r>
            <a:endParaRPr lang="en-US" sz="3700" dirty="0"/>
          </a:p>
        </p:txBody>
      </p:sp>
      <p:sp>
        <p:nvSpPr>
          <p:cNvPr id="4" name="Shape 2"/>
          <p:cNvSpPr/>
          <p:nvPr/>
        </p:nvSpPr>
        <p:spPr>
          <a:xfrm>
            <a:off x="640080" y="2148840"/>
            <a:ext cx="2569464" cy="1783080"/>
          </a:xfrm>
          <a:prstGeom prst="roundRect">
            <a:avLst>
              <a:gd name="adj" fmla="val 4615"/>
            </a:avLst>
          </a:prstGeom>
          <a:solidFill>
            <a:srgbClr val="F4F6FA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27000" dist="38100" dir="5400000">
              <a:srgbClr val="9AA7BC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467612" y="2441448"/>
            <a:ext cx="914400" cy="914400"/>
          </a:xfrm>
          <a:prstGeom prst="ellipse">
            <a:avLst/>
          </a:prstGeom>
          <a:solidFill>
            <a:srgbClr val="14213D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96212" y="2670048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3447288"/>
            <a:ext cx="22951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 &amp; Categorias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3456432" y="2148840"/>
            <a:ext cx="2569464" cy="1783080"/>
          </a:xfrm>
          <a:prstGeom prst="roundRect">
            <a:avLst>
              <a:gd name="adj" fmla="val 4615"/>
            </a:avLst>
          </a:prstGeom>
          <a:solidFill>
            <a:srgbClr val="F4F6FA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27000" dist="38100" dir="5400000">
              <a:srgbClr val="9AA7BC">
                <a:alpha val="2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283964" y="2441448"/>
            <a:ext cx="914400" cy="914400"/>
          </a:xfrm>
          <a:prstGeom prst="ellipse">
            <a:avLst/>
          </a:prstGeom>
          <a:solidFill>
            <a:srgbClr val="14213D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12564" y="2670048"/>
            <a:ext cx="457200" cy="4572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593592" y="3447288"/>
            <a:ext cx="22951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Pesquisa</a:t>
            </a:r>
            <a:endParaRPr lang="en-US" sz="1500" dirty="0"/>
          </a:p>
        </p:txBody>
      </p:sp>
      <p:sp>
        <p:nvSpPr>
          <p:cNvPr id="12" name="Shape 8"/>
          <p:cNvSpPr/>
          <p:nvPr/>
        </p:nvSpPr>
        <p:spPr>
          <a:xfrm>
            <a:off x="6272784" y="2148840"/>
            <a:ext cx="2569464" cy="1783080"/>
          </a:xfrm>
          <a:prstGeom prst="roundRect">
            <a:avLst>
              <a:gd name="adj" fmla="val 4615"/>
            </a:avLst>
          </a:prstGeom>
          <a:solidFill>
            <a:srgbClr val="F4F6FA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27000" dist="38100" dir="5400000">
              <a:srgbClr val="9AA7BC">
                <a:alpha val="2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7100316" y="2441448"/>
            <a:ext cx="914400" cy="914400"/>
          </a:xfrm>
          <a:prstGeom prst="ellipse">
            <a:avLst/>
          </a:prstGeom>
          <a:solidFill>
            <a:srgbClr val="14213D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8916" y="2670048"/>
            <a:ext cx="457200" cy="4572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409944" y="3447288"/>
            <a:ext cx="22951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Comentários</a:t>
            </a:r>
            <a:endParaRPr lang="en-US" sz="1500" dirty="0"/>
          </a:p>
        </p:txBody>
      </p:sp>
      <p:sp>
        <p:nvSpPr>
          <p:cNvPr id="16" name="Shape 11"/>
          <p:cNvSpPr/>
          <p:nvPr/>
        </p:nvSpPr>
        <p:spPr>
          <a:xfrm>
            <a:off x="9089136" y="2148840"/>
            <a:ext cx="2569464" cy="1783080"/>
          </a:xfrm>
          <a:prstGeom prst="roundRect">
            <a:avLst>
              <a:gd name="adj" fmla="val 4615"/>
            </a:avLst>
          </a:prstGeom>
          <a:solidFill>
            <a:srgbClr val="F4F6FA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27000" dist="38100" dir="5400000">
              <a:srgbClr val="9AA7BC">
                <a:alpha val="22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9916668" y="2441448"/>
            <a:ext cx="914400" cy="914400"/>
          </a:xfrm>
          <a:prstGeom prst="ellipse">
            <a:avLst/>
          </a:prstGeom>
          <a:solidFill>
            <a:srgbClr val="14213D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5268" y="2670048"/>
            <a:ext cx="457200" cy="45720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9226296" y="3447288"/>
            <a:ext cx="22951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Guardados</a:t>
            </a:r>
            <a:endParaRPr lang="en-US" sz="1500" dirty="0"/>
          </a:p>
        </p:txBody>
      </p:sp>
      <p:sp>
        <p:nvSpPr>
          <p:cNvPr id="20" name="Shape 14"/>
          <p:cNvSpPr/>
          <p:nvPr/>
        </p:nvSpPr>
        <p:spPr>
          <a:xfrm>
            <a:off x="640080" y="4251960"/>
            <a:ext cx="2569464" cy="1783080"/>
          </a:xfrm>
          <a:prstGeom prst="roundRect">
            <a:avLst>
              <a:gd name="adj" fmla="val 4615"/>
            </a:avLst>
          </a:prstGeom>
          <a:solidFill>
            <a:srgbClr val="F4F6FA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27000" dist="38100" dir="5400000">
              <a:srgbClr val="9AA7BC">
                <a:alpha val="22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1467612" y="4544568"/>
            <a:ext cx="914400" cy="914400"/>
          </a:xfrm>
          <a:prstGeom prst="ellipse">
            <a:avLst/>
          </a:prstGeom>
          <a:solidFill>
            <a:srgbClr val="14213D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96212" y="4773168"/>
            <a:ext cx="457200" cy="45720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777240" y="5550408"/>
            <a:ext cx="22951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Ouvir notícia (TTS)</a:t>
            </a:r>
            <a:endParaRPr lang="en-US" sz="1500" dirty="0"/>
          </a:p>
        </p:txBody>
      </p:sp>
      <p:sp>
        <p:nvSpPr>
          <p:cNvPr id="24" name="Shape 17"/>
          <p:cNvSpPr/>
          <p:nvPr/>
        </p:nvSpPr>
        <p:spPr>
          <a:xfrm>
            <a:off x="3456432" y="4251960"/>
            <a:ext cx="2569464" cy="1783080"/>
          </a:xfrm>
          <a:prstGeom prst="roundRect">
            <a:avLst>
              <a:gd name="adj" fmla="val 4615"/>
            </a:avLst>
          </a:prstGeom>
          <a:solidFill>
            <a:srgbClr val="F4F6FA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27000" dist="38100" dir="5400000">
              <a:srgbClr val="9AA7BC">
                <a:alpha val="22000"/>
              </a:srgbClr>
            </a:outerShdw>
          </a:effectLst>
        </p:spPr>
      </p:sp>
      <p:sp>
        <p:nvSpPr>
          <p:cNvPr id="25" name="Shape 18"/>
          <p:cNvSpPr/>
          <p:nvPr/>
        </p:nvSpPr>
        <p:spPr>
          <a:xfrm>
            <a:off x="4283964" y="4544568"/>
            <a:ext cx="914400" cy="914400"/>
          </a:xfrm>
          <a:prstGeom prst="ellipse">
            <a:avLst/>
          </a:prstGeom>
          <a:solidFill>
            <a:srgbClr val="14213D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12564" y="4773168"/>
            <a:ext cx="457200" cy="457200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3593592" y="5550408"/>
            <a:ext cx="22951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Resumo do Dia</a:t>
            </a:r>
            <a:endParaRPr lang="en-US" sz="1500" dirty="0"/>
          </a:p>
        </p:txBody>
      </p:sp>
      <p:sp>
        <p:nvSpPr>
          <p:cNvPr id="28" name="Shape 20"/>
          <p:cNvSpPr/>
          <p:nvPr/>
        </p:nvSpPr>
        <p:spPr>
          <a:xfrm>
            <a:off x="6272784" y="4251960"/>
            <a:ext cx="2569464" cy="1783080"/>
          </a:xfrm>
          <a:prstGeom prst="roundRect">
            <a:avLst>
              <a:gd name="adj" fmla="val 4615"/>
            </a:avLst>
          </a:prstGeom>
          <a:solidFill>
            <a:srgbClr val="F4F6FA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27000" dist="38100" dir="5400000">
              <a:srgbClr val="9AA7BC">
                <a:alpha val="22000"/>
              </a:srgbClr>
            </a:outerShdw>
          </a:effectLst>
        </p:spPr>
      </p:sp>
      <p:sp>
        <p:nvSpPr>
          <p:cNvPr id="29" name="Shape 21"/>
          <p:cNvSpPr/>
          <p:nvPr/>
        </p:nvSpPr>
        <p:spPr>
          <a:xfrm>
            <a:off x="7100316" y="4544568"/>
            <a:ext cx="914400" cy="914400"/>
          </a:xfrm>
          <a:prstGeom prst="ellipse">
            <a:avLst/>
          </a:prstGeom>
          <a:solidFill>
            <a:srgbClr val="14213D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3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28916" y="4773168"/>
            <a:ext cx="457200" cy="457200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6409944" y="5550408"/>
            <a:ext cx="22951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Tema claro/escuro</a:t>
            </a:r>
            <a:endParaRPr lang="en-US" sz="1500" dirty="0"/>
          </a:p>
        </p:txBody>
      </p:sp>
      <p:sp>
        <p:nvSpPr>
          <p:cNvPr id="32" name="Shape 23"/>
          <p:cNvSpPr/>
          <p:nvPr/>
        </p:nvSpPr>
        <p:spPr>
          <a:xfrm>
            <a:off x="9089136" y="4251960"/>
            <a:ext cx="2569464" cy="1783080"/>
          </a:xfrm>
          <a:prstGeom prst="roundRect">
            <a:avLst>
              <a:gd name="adj" fmla="val 4615"/>
            </a:avLst>
          </a:prstGeom>
          <a:solidFill>
            <a:srgbClr val="F4F6FA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27000" dist="38100" dir="5400000">
              <a:srgbClr val="9AA7BC">
                <a:alpha val="22000"/>
              </a:srgbClr>
            </a:outerShdw>
          </a:effectLst>
        </p:spPr>
      </p:sp>
      <p:sp>
        <p:nvSpPr>
          <p:cNvPr id="33" name="Shape 24"/>
          <p:cNvSpPr/>
          <p:nvPr/>
        </p:nvSpPr>
        <p:spPr>
          <a:xfrm>
            <a:off x="9916668" y="4544568"/>
            <a:ext cx="914400" cy="914400"/>
          </a:xfrm>
          <a:prstGeom prst="ellipse">
            <a:avLst/>
          </a:prstGeom>
          <a:solidFill>
            <a:srgbClr val="14213D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3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145268" y="4773168"/>
            <a:ext cx="457200" cy="457200"/>
          </a:xfrm>
          <a:prstGeom prst="rect">
            <a:avLst/>
          </a:prstGeom>
        </p:spPr>
      </p:pic>
      <p:sp>
        <p:nvSpPr>
          <p:cNvPr id="35" name="Text 25"/>
          <p:cNvSpPr/>
          <p:nvPr/>
        </p:nvSpPr>
        <p:spPr>
          <a:xfrm>
            <a:off x="9226296" y="5550408"/>
            <a:ext cx="22951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Widgets reais</a:t>
            </a:r>
            <a:endParaRPr lang="en-US" sz="1500" dirty="0"/>
          </a:p>
        </p:txBody>
      </p:sp>
      <p:sp>
        <p:nvSpPr>
          <p:cNvPr id="36" name="Text 26"/>
          <p:cNvSpPr/>
          <p:nvPr/>
        </p:nvSpPr>
        <p:spPr>
          <a:xfrm>
            <a:off x="640080" y="645566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6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ISPTEC News — Defesa do Projeto Final</a:t>
            </a:r>
            <a:endParaRPr lang="en-US" sz="900" dirty="0"/>
          </a:p>
        </p:txBody>
      </p:sp>
      <p:sp>
        <p:nvSpPr>
          <p:cNvPr id="37" name="Text 27"/>
          <p:cNvSpPr/>
          <p:nvPr/>
        </p:nvSpPr>
        <p:spPr>
          <a:xfrm>
            <a:off x="10177272" y="64556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6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10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4389120"/>
            <a:ext cx="3657600" cy="3657600"/>
          </a:xfrm>
          <a:prstGeom prst="ellipse">
            <a:avLst/>
          </a:prstGeom>
          <a:solidFill>
            <a:srgbClr val="20305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548640"/>
            <a:ext cx="10908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CONCLUSÃO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109087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Requisitos Cumpridos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3447288" cy="914400"/>
          </a:xfrm>
          <a:prstGeom prst="roundRect">
            <a:avLst>
              <a:gd name="adj" fmla="val 10000"/>
            </a:avLst>
          </a:prstGeom>
          <a:solidFill>
            <a:srgbClr val="20305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2148840"/>
            <a:ext cx="457200" cy="45720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7270" y="2251710"/>
            <a:ext cx="251460" cy="2514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08760" y="1920240"/>
            <a:ext cx="24414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Compressão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4370832" y="1920240"/>
            <a:ext cx="3447288" cy="914400"/>
          </a:xfrm>
          <a:prstGeom prst="roundRect">
            <a:avLst>
              <a:gd name="adj" fmla="val 10000"/>
            </a:avLst>
          </a:prstGeom>
          <a:solidFill>
            <a:srgbClr val="20305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645152" y="2148840"/>
            <a:ext cx="457200" cy="45720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8022" y="2251710"/>
            <a:ext cx="251460" cy="2514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239512" y="1920240"/>
            <a:ext cx="24414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Streaming</a:t>
            </a:r>
            <a:endParaRPr lang="en-US" sz="1700" dirty="0"/>
          </a:p>
        </p:txBody>
      </p:sp>
      <p:sp>
        <p:nvSpPr>
          <p:cNvPr id="13" name="Shape 9"/>
          <p:cNvSpPr/>
          <p:nvPr/>
        </p:nvSpPr>
        <p:spPr>
          <a:xfrm>
            <a:off x="8101584" y="1920240"/>
            <a:ext cx="3447288" cy="914400"/>
          </a:xfrm>
          <a:prstGeom prst="roundRect">
            <a:avLst>
              <a:gd name="adj" fmla="val 10000"/>
            </a:avLst>
          </a:prstGeom>
          <a:solidFill>
            <a:srgbClr val="20305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8375904" y="2148840"/>
            <a:ext cx="457200" cy="45720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8774" y="2251710"/>
            <a:ext cx="251460" cy="25146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970264" y="1920240"/>
            <a:ext cx="24414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Cliente multiplataforma</a:t>
            </a:r>
            <a:endParaRPr lang="en-US" sz="1700" dirty="0"/>
          </a:p>
        </p:txBody>
      </p:sp>
      <p:sp>
        <p:nvSpPr>
          <p:cNvPr id="17" name="Text 12"/>
          <p:cNvSpPr/>
          <p:nvPr/>
        </p:nvSpPr>
        <p:spPr>
          <a:xfrm>
            <a:off x="640080" y="3200400"/>
            <a:ext cx="10908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DIVISÃO DE TRABALHO</a:t>
            </a:r>
            <a:endParaRPr lang="en-US" sz="1300" dirty="0"/>
          </a:p>
        </p:txBody>
      </p:sp>
      <p:sp>
        <p:nvSpPr>
          <p:cNvPr id="18" name="Shape 13"/>
          <p:cNvSpPr/>
          <p:nvPr/>
        </p:nvSpPr>
        <p:spPr>
          <a:xfrm>
            <a:off x="640080" y="3611880"/>
            <a:ext cx="5303520" cy="1554480"/>
          </a:xfrm>
          <a:prstGeom prst="roundRect">
            <a:avLst>
              <a:gd name="adj" fmla="val 5882"/>
            </a:avLst>
          </a:prstGeom>
          <a:solidFill>
            <a:srgbClr val="20305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960120" y="3931920"/>
            <a:ext cx="777240" cy="777240"/>
          </a:xfrm>
          <a:prstGeom prst="ellipse">
            <a:avLst/>
          </a:prstGeom>
          <a:solidFill>
            <a:srgbClr val="E63946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4430" y="4126230"/>
            <a:ext cx="388620" cy="38862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920240" y="3904488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Dálcio Garcia</a:t>
            </a:r>
            <a:endParaRPr lang="en-US" sz="1900" dirty="0"/>
          </a:p>
        </p:txBody>
      </p:sp>
      <p:sp>
        <p:nvSpPr>
          <p:cNvPr id="22" name="Text 16"/>
          <p:cNvSpPr/>
          <p:nvPr/>
        </p:nvSpPr>
        <p:spPr>
          <a:xfrm>
            <a:off x="1920240" y="4306824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Líder Técnico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1005840" y="466344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Media-engine (compressão, Huffman), streaming e API.</a:t>
            </a:r>
            <a:endParaRPr lang="en-US" sz="1300" dirty="0"/>
          </a:p>
        </p:txBody>
      </p:sp>
      <p:sp>
        <p:nvSpPr>
          <p:cNvPr id="24" name="Shape 18"/>
          <p:cNvSpPr/>
          <p:nvPr/>
        </p:nvSpPr>
        <p:spPr>
          <a:xfrm>
            <a:off x="6245352" y="3611880"/>
            <a:ext cx="5303520" cy="1554480"/>
          </a:xfrm>
          <a:prstGeom prst="roundRect">
            <a:avLst>
              <a:gd name="adj" fmla="val 5882"/>
            </a:avLst>
          </a:prstGeom>
          <a:solidFill>
            <a:srgbClr val="20305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6565392" y="3931920"/>
            <a:ext cx="777240" cy="777240"/>
          </a:xfrm>
          <a:prstGeom prst="ellipse">
            <a:avLst/>
          </a:prstGeom>
          <a:solidFill>
            <a:srgbClr val="E63946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59702" y="4126230"/>
            <a:ext cx="388620" cy="38862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7525512" y="3904488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Osvaldo Marcolino</a:t>
            </a:r>
            <a:endParaRPr lang="en-US" sz="1900" dirty="0"/>
          </a:p>
        </p:txBody>
      </p:sp>
      <p:sp>
        <p:nvSpPr>
          <p:cNvPr id="28" name="Text 21"/>
          <p:cNvSpPr/>
          <p:nvPr/>
        </p:nvSpPr>
        <p:spPr>
          <a:xfrm>
            <a:off x="7525512" y="4306824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Líder de Produto</a:t>
            </a:r>
            <a:endParaRPr lang="en-US" sz="1300" dirty="0"/>
          </a:p>
        </p:txBody>
      </p:sp>
      <p:sp>
        <p:nvSpPr>
          <p:cNvPr id="29" name="Text 22"/>
          <p:cNvSpPr/>
          <p:nvPr/>
        </p:nvSpPr>
        <p:spPr>
          <a:xfrm>
            <a:off x="6611112" y="466344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Clientes (Web/Desktop/Mobile), UI/UX e base de dados.</a:t>
            </a:r>
            <a:endParaRPr lang="en-US" sz="1300" dirty="0"/>
          </a:p>
        </p:txBody>
      </p:sp>
      <p:sp>
        <p:nvSpPr>
          <p:cNvPr id="30" name="Text 23"/>
          <p:cNvSpPr/>
          <p:nvPr/>
        </p:nvSpPr>
        <p:spPr>
          <a:xfrm>
            <a:off x="640080" y="5486400"/>
            <a:ext cx="10908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Ambos programaram, como exige o enunciado.  ·  Obrigado!</a:t>
            </a:r>
            <a:endParaRPr lang="en-US" sz="1700" dirty="0"/>
          </a:p>
        </p:txBody>
      </p:sp>
      <p:sp>
        <p:nvSpPr>
          <p:cNvPr id="31" name="Text 24"/>
          <p:cNvSpPr/>
          <p:nvPr/>
        </p:nvSpPr>
        <p:spPr>
          <a:xfrm>
            <a:off x="640080" y="6355080"/>
            <a:ext cx="10908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E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ISPTEC News — Multimédia 2026 · Grupo 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ISPTEC News — Defesa</dc:title>
  <dc:subject>PptxGenJS Presentation</dc:subject>
  <dc:creator>Grupo 26 — Dálcio Garcia, Osvaldo Marcolino</dc:creator>
  <cp:lastModifiedBy>Grupo 26 — Dálcio Garcia, Osvaldo Marcolino</cp:lastModifiedBy>
  <cp:revision>1</cp:revision>
  <dcterms:created xsi:type="dcterms:W3CDTF">2026-06-23T13:47:59Z</dcterms:created>
  <dcterms:modified xsi:type="dcterms:W3CDTF">2026-06-23T13:47:59Z</dcterms:modified>
</cp:coreProperties>
</file>